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93147" y="-3371081"/>
            <a:ext cx="8272424" cy="10906983"/>
          </a:xfrm>
          <a:prstGeom prst="rect">
            <a:avLst/>
          </a:pr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93147" y="-3320347"/>
            <a:ext cx="13639817" cy="130239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2324100"/>
            <a:ext cx="5557838" cy="1733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840"/>
              </a:lnSpc>
              <a:buNone/>
            </a:pPr>
            <a:r>
              <a:rPr lang="en-US" sz="7125" spc="-356" kern="0" dirty="0">
                <a:solidFill>
                  <a:srgbClr val="BDE3FF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SS Consultoria </a:t>
            </a:r>
            <a:endParaRPr lang="en-US" sz="7125" dirty="0"/>
          </a:p>
        </p:txBody>
      </p:sp>
      <p:sp>
        <p:nvSpPr>
          <p:cNvPr id="5" name="Text 2"/>
          <p:cNvSpPr/>
          <p:nvPr/>
        </p:nvSpPr>
        <p:spPr>
          <a:xfrm>
            <a:off x="1866900" y="762000"/>
            <a:ext cx="461963" cy="166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24013" y="1481138"/>
            <a:ext cx="5553075" cy="290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2400" spc="-120" kern="0" dirty="0">
                <a:solidFill>
                  <a:srgbClr val="FFFFFF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Apresentação do projeto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24350" y="476250"/>
            <a:ext cx="4343400" cy="3614739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324350" y="476250"/>
            <a:ext cx="4343400" cy="8763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324350" y="1504950"/>
            <a:ext cx="4343400" cy="881063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324350" y="2538413"/>
            <a:ext cx="4343400" cy="600075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4324350" y="3290888"/>
            <a:ext cx="4343400" cy="32385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324350" y="3767139"/>
            <a:ext cx="4343400" cy="32385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4324350" y="3767139"/>
            <a:ext cx="4343400" cy="20955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4324350" y="3290888"/>
            <a:ext cx="4343400" cy="20955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4324350" y="2538413"/>
            <a:ext cx="4343400" cy="20955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4324350" y="2976563"/>
            <a:ext cx="4343400" cy="161925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4324350" y="1504950"/>
            <a:ext cx="4343400" cy="20955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4324350" y="1947863"/>
            <a:ext cx="4343400" cy="161925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4510088" y="2224088"/>
            <a:ext cx="4157663" cy="161925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4324350" y="476250"/>
            <a:ext cx="4343400" cy="209550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4324350" y="914400"/>
            <a:ext cx="4343400" cy="161925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4324350" y="1190625"/>
            <a:ext cx="4343400" cy="161925"/>
          </a:xfrm>
          <a:prstGeom prst="rect">
            <a:avLst/>
          </a:prstGeom>
          <a:noFill/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4350" y="4090989"/>
            <a:ext cx="4343400" cy="4763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350" y="3614738"/>
            <a:ext cx="4343400" cy="4763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2862263"/>
            <a:ext cx="4343400" cy="4763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350" y="1828800"/>
            <a:ext cx="4343400" cy="4763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4350" y="800100"/>
            <a:ext cx="4343400" cy="476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6250" y="476250"/>
            <a:ext cx="1866900" cy="47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8"/>
              </a:lnSpc>
              <a:buNone/>
            </a:pPr>
            <a:r>
              <a:rPr lang="en-US" sz="3600" spc="-180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Tópicos </a:t>
            </a:r>
            <a:endParaRPr lang="en-US" sz="3600" dirty="0"/>
          </a:p>
        </p:txBody>
      </p:sp>
      <p:sp>
        <p:nvSpPr>
          <p:cNvPr id="24" name="Text 17"/>
          <p:cNvSpPr/>
          <p:nvPr/>
        </p:nvSpPr>
        <p:spPr>
          <a:xfrm>
            <a:off x="8667750" y="4710113"/>
            <a:ext cx="495300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50" dirty="0"/>
          </a:p>
        </p:txBody>
      </p:sp>
      <p:sp>
        <p:nvSpPr>
          <p:cNvPr id="25" name="Text 18"/>
          <p:cNvSpPr/>
          <p:nvPr/>
        </p:nvSpPr>
        <p:spPr>
          <a:xfrm>
            <a:off x="4324350" y="3767139"/>
            <a:ext cx="113347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350" spc="-6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8129588" y="3767139"/>
            <a:ext cx="995362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350" spc="-6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5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324350" y="3290888"/>
            <a:ext cx="2309813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350" spc="-6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Horas e Custo Estimados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120063" y="3290888"/>
            <a:ext cx="100488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350" spc="-6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4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324350" y="2976563"/>
            <a:ext cx="1571625" cy="161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Tecnologias por tema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543925" y="2976563"/>
            <a:ext cx="581025" cy="161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4324350" y="2538413"/>
            <a:ext cx="2062162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350" spc="-6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Tecnologias utilizadas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8124825" y="2538413"/>
            <a:ext cx="100012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350" spc="-6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3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510088" y="2224088"/>
            <a:ext cx="1485900" cy="161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 de Projeto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8524875" y="2224088"/>
            <a:ext cx="600075" cy="161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4324350" y="1947863"/>
            <a:ext cx="2409825" cy="161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Marca Existe, Mas o Público Não Vê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8534400" y="1947863"/>
            <a:ext cx="590550" cy="161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4324350" y="1504950"/>
            <a:ext cx="2100263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350" spc="-6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Dificuldade e proposta 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8129588" y="1504950"/>
            <a:ext cx="995362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350" spc="-6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2</a:t>
            </a:r>
            <a:endParaRPr lang="en-US" sz="1350" dirty="0"/>
          </a:p>
        </p:txBody>
      </p:sp>
      <p:sp>
        <p:nvSpPr>
          <p:cNvPr id="39" name="Text 32"/>
          <p:cNvSpPr/>
          <p:nvPr/>
        </p:nvSpPr>
        <p:spPr>
          <a:xfrm>
            <a:off x="4324350" y="1190625"/>
            <a:ext cx="909638" cy="161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8524875" y="1190625"/>
            <a:ext cx="600075" cy="161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4324350" y="914400"/>
            <a:ext cx="1219200" cy="161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 Consultoria 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8524875" y="914400"/>
            <a:ext cx="600075" cy="161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4324350" y="476250"/>
            <a:ext cx="154305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350" spc="-6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a cliente  </a:t>
            </a:r>
            <a:endParaRPr lang="en-US" sz="1350" dirty="0"/>
          </a:p>
        </p:txBody>
      </p:sp>
      <p:sp>
        <p:nvSpPr>
          <p:cNvPr id="44" name="Text 37"/>
          <p:cNvSpPr/>
          <p:nvPr/>
        </p:nvSpPr>
        <p:spPr>
          <a:xfrm>
            <a:off x="8153400" y="476250"/>
            <a:ext cx="97155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350" spc="-6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1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17881" y="-3349808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60644" y="-4028608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67750" y="4710113"/>
            <a:ext cx="495300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50" dirty="0"/>
          </a:p>
        </p:txBody>
      </p:sp>
      <p:sp>
        <p:nvSpPr>
          <p:cNvPr id="5" name="Text 1"/>
          <p:cNvSpPr/>
          <p:nvPr/>
        </p:nvSpPr>
        <p:spPr>
          <a:xfrm>
            <a:off x="476250" y="476250"/>
            <a:ext cx="5348288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5250" spc="-262" kern="0" dirty="0">
                <a:solidFill>
                  <a:srgbClr val="FFFFFF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Sobre a cliente </a:t>
            </a:r>
            <a:endParaRPr lang="en-US" sz="5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3729038" cy="47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8"/>
              </a:lnSpc>
              <a:buNone/>
            </a:pPr>
            <a:r>
              <a:rPr lang="en-US" sz="3600" spc="-180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SS Consultoria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6250" y="1238250"/>
            <a:ext cx="52197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04"/>
              </a:lnSpc>
              <a:buNone/>
            </a:pPr>
            <a:r>
              <a:rPr lang="en-US" sz="1809" spc="-9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SS Consultoria é uma empresa emergente fundada por Sue Ellem e Solange Sousa, especializada em Qualidade e Segurança dos Alimentos. Atua oferecendo serviços como elaboração de manuais, capacitação de equipes, consultoria em rotulagem e suporte técnico para estabelecimentos alimentícios como restaurantes, buffets e cozinhas industriais.</a:t>
            </a:r>
            <a:endParaRPr lang="en-US" sz="1809" dirty="0"/>
          </a:p>
        </p:txBody>
      </p:sp>
      <p:sp>
        <p:nvSpPr>
          <p:cNvPr id="4" name="Text 2"/>
          <p:cNvSpPr/>
          <p:nvPr/>
        </p:nvSpPr>
        <p:spPr>
          <a:xfrm>
            <a:off x="8667750" y="4710113"/>
            <a:ext cx="495300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2110" y="1728788"/>
            <a:ext cx="1895244" cy="185738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780997" y="1728788"/>
            <a:ext cx="1749168" cy="1857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29682" y="1728788"/>
            <a:ext cx="2000119" cy="185738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-7867650" y="-3143250"/>
            <a:ext cx="19507200" cy="13006388"/>
          </a:xfrm>
          <a:prstGeom prst="rect">
            <a:avLst/>
          </a:prstGeom>
          <a:noFill/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463" y="2300418"/>
            <a:ext cx="2116231" cy="2000119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959" y="2300418"/>
            <a:ext cx="2119978" cy="2000119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747" y="2300418"/>
            <a:ext cx="2116231" cy="200011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239" y="2300418"/>
            <a:ext cx="2116231" cy="200011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940488" y="1728788"/>
            <a:ext cx="2206368" cy="185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1200" spc="-6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técnico 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8672513" y="4710113"/>
            <a:ext cx="495300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450" dirty="0"/>
          </a:p>
        </p:txBody>
      </p:sp>
      <p:sp>
        <p:nvSpPr>
          <p:cNvPr id="12" name="Text 6"/>
          <p:cNvSpPr/>
          <p:nvPr/>
        </p:nvSpPr>
        <p:spPr>
          <a:xfrm>
            <a:off x="328613" y="476250"/>
            <a:ext cx="3729038" cy="47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8"/>
              </a:lnSpc>
              <a:buNone/>
            </a:pPr>
            <a:r>
              <a:rPr lang="en-US" sz="3600" spc="-180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Serviços</a:t>
            </a:r>
            <a:endParaRPr lang="en-US" sz="3600" dirty="0"/>
          </a:p>
        </p:txBody>
      </p:sp>
      <p:sp>
        <p:nvSpPr>
          <p:cNvPr id="13" name="Text 7"/>
          <p:cNvSpPr/>
          <p:nvPr/>
        </p:nvSpPr>
        <p:spPr>
          <a:xfrm>
            <a:off x="329682" y="1728788"/>
            <a:ext cx="2457319" cy="185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1200" spc="-6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Elaboração de Manuais 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80997" y="1728788"/>
            <a:ext cx="2206368" cy="185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1200" spc="-6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Consultoria em rotulagem  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2542110" y="1728788"/>
            <a:ext cx="2352444" cy="185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1200" spc="-6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Capacitação de equipes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48861" y="-3387210"/>
            <a:ext cx="8313940" cy="10957731"/>
          </a:xfrm>
          <a:prstGeom prst="rect">
            <a:avLst/>
          </a:pr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8861" y="-333624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67750" y="4710113"/>
            <a:ext cx="495300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5348288" cy="1276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5250" spc="-262" kern="0" dirty="0">
                <a:solidFill>
                  <a:srgbClr val="FFFFFF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Dificuldade e Proposta</a:t>
            </a:r>
            <a:endParaRPr lang="en-US" sz="5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772477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56"/>
              </a:lnSpc>
              <a:buNone/>
            </a:pPr>
            <a:r>
              <a:rPr lang="en-US" sz="3600" spc="-180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A Marca Existe, Mas o Público Não Vê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6250" y="1309688"/>
            <a:ext cx="6710363" cy="25193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55"/>
              </a:lnSpc>
              <a:buNone/>
            </a:pPr>
            <a:r>
              <a:rPr lang="en-US" sz="1914" spc="-9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SS Consultoria enfrenta dificuldades para apresentar seus serviços de forma clara e profissional, o que compromete sua visibilidade no ambiente digital, dificulta o contato com novos clientes e reduz sua competitividade no mercado.</a:t>
            </a:r>
            <a:endParaRPr lang="en-US" sz="1914" dirty="0"/>
          </a:p>
          <a:p>
            <a:pPr algn="l" indent="0" marL="0">
              <a:lnSpc>
                <a:spcPts val="2355"/>
              </a:lnSpc>
              <a:buNone/>
            </a:pPr>
            <a:r>
              <a:rPr lang="en-US" sz="1914" spc="-9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empresa atua no mercado B2B (Business to Business) oferecendo serviço a outras empresas, o que  torna os processos de vendas mais complexos e demandantes de uma apresentação de marca bastante profissional, que inspire confiança.</a:t>
            </a:r>
            <a:endParaRPr lang="en-US" sz="1914" dirty="0"/>
          </a:p>
        </p:txBody>
      </p:sp>
      <p:sp>
        <p:nvSpPr>
          <p:cNvPr id="4" name="Text 2"/>
          <p:cNvSpPr/>
          <p:nvPr/>
        </p:nvSpPr>
        <p:spPr>
          <a:xfrm>
            <a:off x="8667750" y="4710113"/>
            <a:ext cx="490538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00025"/>
            <a:ext cx="4281488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56"/>
              </a:lnSpc>
              <a:buNone/>
            </a:pPr>
            <a:r>
              <a:rPr lang="en-US" sz="3600" spc="-180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Proposta de Projeto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6250" y="942975"/>
            <a:ext cx="6862763" cy="393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809" spc="-9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Desenvolver um site institucional responsivo e com design moderno para a SS Consultoria. O objetivo é promover serviços, aumentar a visibilidade e estabelecer um canal de comunicação com o público-alvo: outras empresas. Esta solução digital será crucial para fortalecer a presença digital da SS Consultoria, atuando como um pilar estratégico para futuras interações e oportunidades de negócio.</a:t>
            </a:r>
            <a:endParaRPr lang="en-US" sz="1809" dirty="0"/>
          </a:p>
          <a:p>
            <a:pPr algn="l" indent="0" marL="0">
              <a:lnSpc>
                <a:spcPts val="2226"/>
              </a:lnSpc>
              <a:buNone/>
            </a:pPr>
            <a:r>
              <a:rPr lang="en-US" sz="1809" spc="-9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B2B, a confiança e as parcerias duradouras são essenciais, com decisões de compra racionais baseadas no impacto operacional. O novo site da SS Consultoria focará em construir essa confiança, apresentando os serviços de forma clara para atrair e manter clientes corporativos.</a:t>
            </a:r>
            <a:endParaRPr lang="en-US" sz="1809" dirty="0"/>
          </a:p>
        </p:txBody>
      </p:sp>
      <p:sp>
        <p:nvSpPr>
          <p:cNvPr id="4" name="Text 2"/>
          <p:cNvSpPr/>
          <p:nvPr/>
        </p:nvSpPr>
        <p:spPr>
          <a:xfrm>
            <a:off x="8667750" y="4710113"/>
            <a:ext cx="495300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19091" y="-3454173"/>
            <a:ext cx="8389284" cy="11069453"/>
          </a:xfrm>
          <a:prstGeom prst="rect">
            <a:avLst/>
          </a:pr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19090" y="-3402683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67750" y="4710113"/>
            <a:ext cx="509587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5348288" cy="1276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5250" spc="-262" kern="0" dirty="0">
                <a:solidFill>
                  <a:srgbClr val="FFFFFF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Tecnologias utilizadas </a:t>
            </a:r>
            <a:endParaRPr lang="en-US" sz="5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3157538"/>
            <a:ext cx="509587" cy="71913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090613"/>
            <a:ext cx="385763" cy="5810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163" y="3157538"/>
            <a:ext cx="509587" cy="71913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976312"/>
            <a:ext cx="1585913" cy="3143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75" y="1452563"/>
            <a:ext cx="1167203" cy="21808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8275" y="1090613"/>
            <a:ext cx="581025" cy="5810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375" y="3157538"/>
            <a:ext cx="2376488" cy="48101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0925" y="3076575"/>
            <a:ext cx="752475" cy="7524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6013" y="785813"/>
            <a:ext cx="1271588" cy="1271588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476250" y="2533650"/>
            <a:ext cx="2352675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63"/>
              </a:lnSpc>
              <a:buNone/>
            </a:pPr>
            <a:r>
              <a:rPr lang="en-US" sz="2035" spc="-102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Desenvolvimento </a:t>
            </a:r>
            <a:endParaRPr lang="en-US" sz="2035" dirty="0"/>
          </a:p>
        </p:txBody>
      </p:sp>
      <p:sp>
        <p:nvSpPr>
          <p:cNvPr id="12" name="Text 1"/>
          <p:cNvSpPr/>
          <p:nvPr/>
        </p:nvSpPr>
        <p:spPr>
          <a:xfrm>
            <a:off x="2876550" y="476250"/>
            <a:ext cx="2486025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63"/>
              </a:lnSpc>
              <a:buNone/>
            </a:pPr>
            <a:r>
              <a:rPr lang="en-US" sz="2035" spc="-102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Gestão de equipes</a:t>
            </a:r>
            <a:endParaRPr lang="en-US" sz="2035" dirty="0"/>
          </a:p>
        </p:txBody>
      </p:sp>
      <p:sp>
        <p:nvSpPr>
          <p:cNvPr id="13" name="Text 2"/>
          <p:cNvSpPr/>
          <p:nvPr/>
        </p:nvSpPr>
        <p:spPr>
          <a:xfrm>
            <a:off x="5748338" y="476250"/>
            <a:ext cx="241935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63"/>
              </a:lnSpc>
              <a:buNone/>
            </a:pPr>
            <a:r>
              <a:rPr lang="en-US" sz="2035" spc="-102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Gestão do Projeto</a:t>
            </a:r>
            <a:endParaRPr lang="en-US" sz="2035" dirty="0"/>
          </a:p>
        </p:txBody>
      </p:sp>
      <p:sp>
        <p:nvSpPr>
          <p:cNvPr id="14" name="Text 3"/>
          <p:cNvSpPr/>
          <p:nvPr/>
        </p:nvSpPr>
        <p:spPr>
          <a:xfrm>
            <a:off x="476250" y="476250"/>
            <a:ext cx="2014538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63"/>
              </a:lnSpc>
              <a:buNone/>
            </a:pPr>
            <a:r>
              <a:rPr lang="en-US" sz="2035" spc="-102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Planejamento</a:t>
            </a:r>
            <a:endParaRPr lang="en-US" sz="2035" dirty="0"/>
          </a:p>
        </p:txBody>
      </p:sp>
      <p:sp>
        <p:nvSpPr>
          <p:cNvPr id="15" name="Text 4"/>
          <p:cNvSpPr/>
          <p:nvPr/>
        </p:nvSpPr>
        <p:spPr>
          <a:xfrm>
            <a:off x="3057525" y="2533650"/>
            <a:ext cx="245745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63"/>
              </a:lnSpc>
              <a:buNone/>
            </a:pPr>
            <a:r>
              <a:rPr lang="en-US" sz="2035" spc="-102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Gestão de versões</a:t>
            </a:r>
            <a:endParaRPr lang="en-US" sz="2035" dirty="0"/>
          </a:p>
        </p:txBody>
      </p:sp>
      <p:sp>
        <p:nvSpPr>
          <p:cNvPr id="16" name="Text 5"/>
          <p:cNvSpPr/>
          <p:nvPr/>
        </p:nvSpPr>
        <p:spPr>
          <a:xfrm>
            <a:off x="5743575" y="2533650"/>
            <a:ext cx="3443288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63"/>
              </a:lnSpc>
              <a:buNone/>
            </a:pPr>
            <a:r>
              <a:rPr lang="en-US" sz="2035" spc="-102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Coleta de Dados do Cliente</a:t>
            </a:r>
            <a:endParaRPr lang="en-US" sz="2035" dirty="0"/>
          </a:p>
        </p:txBody>
      </p:sp>
      <p:sp>
        <p:nvSpPr>
          <p:cNvPr id="17" name="Text 6"/>
          <p:cNvSpPr/>
          <p:nvPr/>
        </p:nvSpPr>
        <p:spPr>
          <a:xfrm>
            <a:off x="8667750" y="4710113"/>
            <a:ext cx="51911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90724" y="-3595687"/>
            <a:ext cx="8687392" cy="11069453"/>
          </a:xfrm>
          <a:prstGeom prst="rect">
            <a:avLst/>
          </a:pr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90723" y="-3544197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67750" y="4710113"/>
            <a:ext cx="509587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5348288" cy="1276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5250" spc="-262" kern="0" dirty="0">
                <a:solidFill>
                  <a:srgbClr val="FFFFFF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Horas e Custo Estimado</a:t>
            </a:r>
            <a:endParaRPr lang="en-US" sz="5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0088" y="1847850"/>
            <a:ext cx="581025" cy="561975"/>
          </a:xfrm>
          <a:prstGeom prst="plus">
            <a:avLst/>
          </a:prstGeom>
          <a:solidFill>
            <a:srgbClr val="F16529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57950" y="1847850"/>
            <a:ext cx="581025" cy="561975"/>
          </a:xfrm>
          <a:prstGeom prst="plus">
            <a:avLst/>
          </a:prstGeom>
          <a:solidFill>
            <a:srgbClr val="F16529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81063" y="838200"/>
            <a:ext cx="1721743" cy="2432112"/>
          </a:xfrm>
          <a:prstGeom prst="roundRect">
            <a:avLst>
              <a:gd name="adj" fmla="val 4249"/>
            </a:avLst>
          </a:prstGeom>
          <a:solidFill>
            <a:srgbClr val="1E1E1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Projeto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7081" y="1994055"/>
            <a:ext cx="1715723" cy="1306357"/>
          </a:xfrm>
          <a:prstGeom prst="rect">
            <a:avLst/>
          </a:prstGeom>
          <a:solidFill>
            <a:srgbClr val="14AE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95875" y="1176338"/>
            <a:ext cx="1362075" cy="1924050"/>
          </a:xfrm>
          <a:prstGeom prst="roundRect">
            <a:avLst>
              <a:gd name="adj" fmla="val 5371"/>
            </a:avLst>
          </a:prstGeom>
          <a:solidFill>
            <a:srgbClr val="1E1E1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00638" y="2090738"/>
            <a:ext cx="1357313" cy="1033462"/>
          </a:xfrm>
          <a:prstGeom prst="rect">
            <a:avLst/>
          </a:prstGeom>
          <a:solidFill>
            <a:srgbClr val="4BC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34213" y="1176338"/>
            <a:ext cx="1362075" cy="1924050"/>
          </a:xfrm>
          <a:prstGeom prst="roundRect">
            <a:avLst>
              <a:gd name="adj" fmla="val 5371"/>
            </a:avLst>
          </a:prstGeom>
          <a:solidFill>
            <a:srgbClr val="1E1E1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38975" y="2090738"/>
            <a:ext cx="1357313" cy="1033462"/>
          </a:xfrm>
          <a:prstGeom prst="rect">
            <a:avLst/>
          </a:prstGeom>
          <a:solidFill>
            <a:srgbClr val="9FA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57538" y="1176338"/>
            <a:ext cx="1362075" cy="1924050"/>
          </a:xfrm>
          <a:prstGeom prst="roundRect">
            <a:avLst>
              <a:gd name="adj" fmla="val 5371"/>
            </a:avLst>
          </a:prstGeom>
          <a:solidFill>
            <a:srgbClr val="1E1E1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62300" y="2090738"/>
            <a:ext cx="1357313" cy="1033462"/>
          </a:xfrm>
          <a:prstGeom prst="rect">
            <a:avLst/>
          </a:prstGeom>
          <a:solidFill>
            <a:srgbClr val="48A8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2825" y="1262063"/>
            <a:ext cx="700088" cy="700088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488" y="1262063"/>
            <a:ext cx="700088" cy="700088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0" y="1262063"/>
            <a:ext cx="700088" cy="700088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63" y="838200"/>
            <a:ext cx="1715719" cy="1149835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282" y="2499742"/>
            <a:ext cx="276924" cy="276924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688" y="2443163"/>
            <a:ext cx="219075" cy="219075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2443163"/>
            <a:ext cx="219075" cy="219075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2313" y="2428875"/>
            <a:ext cx="219075" cy="219075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327" y="2885027"/>
            <a:ext cx="240804" cy="240803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6563" y="2081212"/>
            <a:ext cx="190500" cy="190500"/>
          </a:xfrm>
          <a:prstGeom prst="rect">
            <a:avLst/>
          </a:prstGeom>
        </p:spPr>
      </p:pic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3500" y="2795588"/>
            <a:ext cx="190500" cy="190500"/>
          </a:xfrm>
          <a:prstGeom prst="rect">
            <a:avLst/>
          </a:prstGeom>
        </p:spPr>
      </p:pic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1838" y="2795588"/>
            <a:ext cx="190500" cy="19050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8667750" y="4710113"/>
            <a:ext cx="52387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450" dirty="0"/>
          </a:p>
        </p:txBody>
      </p:sp>
      <p:sp>
        <p:nvSpPr>
          <p:cNvPr id="25" name="Text 11"/>
          <p:cNvSpPr/>
          <p:nvPr/>
        </p:nvSpPr>
        <p:spPr>
          <a:xfrm>
            <a:off x="909638" y="3943350"/>
            <a:ext cx="2638425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72" dirty="0">
                <a:solidFill>
                  <a:srgbClr val="F6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Estimativas baseadas em ferramentas acadêmicas; </a:t>
            </a:r>
            <a:endParaRPr lang="en-US" sz="1172" dirty="0"/>
          </a:p>
          <a:p>
            <a:pPr algn="l" indent="0" marL="0">
              <a:lnSpc>
                <a:spcPts val="1418"/>
              </a:lnSpc>
              <a:buNone/>
            </a:pPr>
            <a:r>
              <a:rPr lang="en-US" sz="1172" dirty="0">
                <a:solidFill>
                  <a:srgbClr val="F6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podem diferir dos valores e prazos reais de mercado.</a:t>
            </a:r>
            <a:endParaRPr lang="en-US" sz="1172" dirty="0"/>
          </a:p>
        </p:txBody>
      </p:sp>
      <p:sp>
        <p:nvSpPr>
          <p:cNvPr id="26" name="Text 12"/>
          <p:cNvSpPr/>
          <p:nvPr/>
        </p:nvSpPr>
        <p:spPr>
          <a:xfrm>
            <a:off x="1380725" y="2042216"/>
            <a:ext cx="1176338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17"/>
              </a:lnSpc>
              <a:buNone/>
            </a:pPr>
            <a:r>
              <a:rPr lang="en-US" sz="1706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Projeto</a:t>
            </a:r>
            <a:endParaRPr lang="en-US" sz="1706" dirty="0"/>
          </a:p>
        </p:txBody>
      </p:sp>
      <p:sp>
        <p:nvSpPr>
          <p:cNvPr id="27" name="Text 13"/>
          <p:cNvSpPr/>
          <p:nvPr/>
        </p:nvSpPr>
        <p:spPr>
          <a:xfrm>
            <a:off x="3652838" y="2128838"/>
            <a:ext cx="833437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35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Jean</a:t>
            </a:r>
            <a:endParaRPr lang="en-US" sz="1350" dirty="0"/>
          </a:p>
        </p:txBody>
      </p:sp>
      <p:sp>
        <p:nvSpPr>
          <p:cNvPr id="28" name="Text 14"/>
          <p:cNvSpPr/>
          <p:nvPr/>
        </p:nvSpPr>
        <p:spPr>
          <a:xfrm>
            <a:off x="5595938" y="2128838"/>
            <a:ext cx="814388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35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Davi</a:t>
            </a:r>
            <a:endParaRPr lang="en-US" sz="1350" dirty="0"/>
          </a:p>
        </p:txBody>
      </p:sp>
      <p:sp>
        <p:nvSpPr>
          <p:cNvPr id="29" name="Text 15"/>
          <p:cNvSpPr/>
          <p:nvPr/>
        </p:nvSpPr>
        <p:spPr>
          <a:xfrm>
            <a:off x="7334250" y="2128838"/>
            <a:ext cx="1223962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35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Fernanda</a:t>
            </a:r>
            <a:endParaRPr lang="en-US" sz="1350" dirty="0"/>
          </a:p>
        </p:txBody>
      </p:sp>
      <p:sp>
        <p:nvSpPr>
          <p:cNvPr id="30" name="Text 16"/>
          <p:cNvSpPr/>
          <p:nvPr/>
        </p:nvSpPr>
        <p:spPr>
          <a:xfrm>
            <a:off x="7334250" y="2771775"/>
            <a:ext cx="1200150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350" dirty="0">
                <a:solidFill>
                  <a:srgbClr val="FFFFFF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19H 15m</a:t>
            </a:r>
            <a:endParaRPr lang="en-US" sz="1350" dirty="0"/>
          </a:p>
        </p:txBody>
      </p:sp>
      <p:sp>
        <p:nvSpPr>
          <p:cNvPr id="31" name="Text 17"/>
          <p:cNvSpPr/>
          <p:nvPr/>
        </p:nvSpPr>
        <p:spPr>
          <a:xfrm>
            <a:off x="1248287" y="2921148"/>
            <a:ext cx="1631115" cy="176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77"/>
              </a:lnSpc>
              <a:buNone/>
            </a:pPr>
            <a:r>
              <a:rPr lang="en-US" sz="1138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49H 15MINUTOS </a:t>
            </a:r>
            <a:endParaRPr lang="en-US" sz="1138" dirty="0"/>
          </a:p>
        </p:txBody>
      </p:sp>
      <p:sp>
        <p:nvSpPr>
          <p:cNvPr id="32" name="Text 18"/>
          <p:cNvSpPr/>
          <p:nvPr/>
        </p:nvSpPr>
        <p:spPr>
          <a:xfrm>
            <a:off x="1224204" y="2529842"/>
            <a:ext cx="511381" cy="2619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19"/>
          <p:cNvSpPr/>
          <p:nvPr/>
        </p:nvSpPr>
        <p:spPr>
          <a:xfrm>
            <a:off x="1164003" y="2421481"/>
            <a:ext cx="1775597" cy="233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36"/>
              </a:lnSpc>
              <a:buNone/>
            </a:pPr>
            <a:r>
              <a:rPr lang="en-US" sz="151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R$ 1.966,00</a:t>
            </a:r>
            <a:endParaRPr lang="en-US" sz="1517" dirty="0"/>
          </a:p>
        </p:txBody>
      </p:sp>
      <p:sp>
        <p:nvSpPr>
          <p:cNvPr id="34" name="Text 20"/>
          <p:cNvSpPr/>
          <p:nvPr/>
        </p:nvSpPr>
        <p:spPr>
          <a:xfrm>
            <a:off x="3486150" y="2771775"/>
            <a:ext cx="747712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34"/>
              </a:lnSpc>
              <a:buNone/>
            </a:pPr>
            <a:r>
              <a:rPr lang="en-US" sz="135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16h</a:t>
            </a:r>
            <a:endParaRPr lang="en-US" sz="1350" dirty="0"/>
          </a:p>
        </p:txBody>
      </p:sp>
      <p:sp>
        <p:nvSpPr>
          <p:cNvPr id="35" name="Text 21"/>
          <p:cNvSpPr/>
          <p:nvPr/>
        </p:nvSpPr>
        <p:spPr>
          <a:xfrm>
            <a:off x="3509963" y="2428875"/>
            <a:ext cx="130492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34"/>
              </a:lnSpc>
              <a:buNone/>
            </a:pPr>
            <a:r>
              <a:rPr lang="en-US" sz="135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R$ 640,00</a:t>
            </a:r>
            <a:endParaRPr lang="en-US" sz="1350" dirty="0"/>
          </a:p>
        </p:txBody>
      </p:sp>
      <p:sp>
        <p:nvSpPr>
          <p:cNvPr id="36" name="Text 22"/>
          <p:cNvSpPr/>
          <p:nvPr/>
        </p:nvSpPr>
        <p:spPr>
          <a:xfrm>
            <a:off x="5434013" y="2771775"/>
            <a:ext cx="776287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34"/>
              </a:lnSpc>
              <a:buNone/>
            </a:pPr>
            <a:r>
              <a:rPr lang="en-US" sz="135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14H</a:t>
            </a:r>
            <a:endParaRPr lang="en-US" sz="1350" dirty="0"/>
          </a:p>
        </p:txBody>
      </p:sp>
      <p:sp>
        <p:nvSpPr>
          <p:cNvPr id="37" name="Text 23"/>
          <p:cNvSpPr/>
          <p:nvPr/>
        </p:nvSpPr>
        <p:spPr>
          <a:xfrm>
            <a:off x="5448300" y="2428875"/>
            <a:ext cx="1300163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34"/>
              </a:lnSpc>
              <a:buNone/>
            </a:pPr>
            <a:r>
              <a:rPr lang="en-US" sz="135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R$ 560,00</a:t>
            </a:r>
            <a:endParaRPr lang="en-US" sz="1350" dirty="0"/>
          </a:p>
        </p:txBody>
      </p:sp>
      <p:sp>
        <p:nvSpPr>
          <p:cNvPr id="38" name="Text 24"/>
          <p:cNvSpPr/>
          <p:nvPr/>
        </p:nvSpPr>
        <p:spPr>
          <a:xfrm>
            <a:off x="7339012" y="2428875"/>
            <a:ext cx="128587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34"/>
              </a:lnSpc>
              <a:buNone/>
            </a:pPr>
            <a:r>
              <a:rPr lang="en-US" sz="135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R$ 766,00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00" y="971550"/>
            <a:ext cx="6615113" cy="40909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4900" y="295275"/>
            <a:ext cx="3995737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72"/>
              </a:lnSpc>
              <a:buNone/>
            </a:pPr>
            <a:r>
              <a:rPr lang="en-US" sz="2400" spc="-120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Divisão de Tarefas por Área  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77544" y="-3509905"/>
            <a:ext cx="8808434" cy="11162436"/>
          </a:xfrm>
          <a:prstGeom prst="rect">
            <a:avLst/>
          </a:pr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77547" y="-3457982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67750" y="4710113"/>
            <a:ext cx="528638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5348288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5250" spc="-262" kern="0" dirty="0">
                <a:solidFill>
                  <a:srgbClr val="FFFFFF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Evolução </a:t>
            </a:r>
            <a:endParaRPr lang="en-US" sz="5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88" y="1076325"/>
            <a:ext cx="2662238" cy="371951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7" y="1157288"/>
            <a:ext cx="4405313" cy="389096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9150" y="171450"/>
            <a:ext cx="3810000" cy="47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8"/>
              </a:lnSpc>
              <a:buNone/>
            </a:pPr>
            <a:r>
              <a:rPr lang="en-US" sz="3600" spc="-180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Identidade visual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819150" y="604838"/>
            <a:ext cx="5105400" cy="233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54"/>
              </a:lnSpc>
              <a:buNone/>
            </a:pPr>
            <a:r>
              <a:rPr lang="en-US" sz="1800" spc="-90" kern="0" dirty="0">
                <a:solidFill>
                  <a:srgbClr val="7B5A5A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Primeira identidade visual proposta pela cliente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8667750" y="4710113"/>
            <a:ext cx="51911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1463" y="1905000"/>
            <a:ext cx="776288" cy="728663"/>
          </a:xfrm>
          <a:prstGeom prst="rect">
            <a:avLst/>
          </a:prstGeom>
          <a:solidFill>
            <a:srgbClr val="F8F7F5"/>
          </a:solidFill>
          <a:ln/>
        </p:spPr>
      </p:sp>
      <p:sp>
        <p:nvSpPr>
          <p:cNvPr id="3" name="Shape 1"/>
          <p:cNvSpPr/>
          <p:nvPr/>
        </p:nvSpPr>
        <p:spPr>
          <a:xfrm>
            <a:off x="7891463" y="2947988"/>
            <a:ext cx="776288" cy="728663"/>
          </a:xfrm>
          <a:prstGeom prst="rect">
            <a:avLst/>
          </a:prstGeom>
          <a:solidFill>
            <a:srgbClr val="F8F7F5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2224088"/>
            <a:ext cx="685800" cy="685800"/>
          </a:xfrm>
          <a:prstGeom prst="ellipse">
            <a:avLst/>
          </a:prstGeom>
          <a:solidFill>
            <a:srgbClr val="0E30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988" y="2224088"/>
            <a:ext cx="685800" cy="685800"/>
          </a:xfrm>
          <a:prstGeom prst="ellipse">
            <a:avLst/>
          </a:prstGeom>
          <a:solidFill>
            <a:srgbClr val="4689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4475" y="2224088"/>
            <a:ext cx="685800" cy="685800"/>
          </a:xfrm>
          <a:prstGeom prst="ellipse">
            <a:avLst/>
          </a:prstGeom>
          <a:solidFill>
            <a:srgbClr val="F8F7F5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950" y="2828925"/>
            <a:ext cx="2738438" cy="947737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288" y="2038350"/>
            <a:ext cx="1247775" cy="7905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9150" y="171450"/>
            <a:ext cx="3810000" cy="47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8"/>
              </a:lnSpc>
              <a:buNone/>
            </a:pPr>
            <a:r>
              <a:rPr lang="en-US" sz="3600" spc="-180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Identidade visual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819150" y="604838"/>
            <a:ext cx="1743075" cy="233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54"/>
              </a:lnSpc>
              <a:buNone/>
            </a:pPr>
            <a:r>
              <a:rPr lang="en-US" sz="1800" spc="-90" kern="0" dirty="0">
                <a:solidFill>
                  <a:srgbClr val="7B5A5A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Reformulada 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296275" y="4710113"/>
            <a:ext cx="51911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450" dirty="0"/>
          </a:p>
        </p:txBody>
      </p:sp>
      <p:sp>
        <p:nvSpPr>
          <p:cNvPr id="12" name="Text 8"/>
          <p:cNvSpPr/>
          <p:nvPr/>
        </p:nvSpPr>
        <p:spPr>
          <a:xfrm>
            <a:off x="6162675" y="2947988"/>
            <a:ext cx="2252663" cy="1585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90"/>
              </a:lnSpc>
              <a:buNone/>
            </a:pPr>
            <a:r>
              <a:rPr lang="en-US" sz="1350" spc="-6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Lorem ipsum dolor sit amet consectetur. Morbi iaculis dui est purus eget consectetur mauris. Tincidunt tortor quam porta elementum. Integer amet vivamus ultrices eget orci quisque urna sagittis.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00788" y="2319338"/>
            <a:ext cx="461963" cy="176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638925" y="2005013"/>
            <a:ext cx="1438275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72"/>
              </a:lnSpc>
              <a:buNone/>
            </a:pPr>
            <a:r>
              <a:rPr lang="en-US" sz="2400" spc="-120" kern="0" dirty="0">
                <a:solidFill>
                  <a:srgbClr val="000000">
                    <a:alpha val="99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Título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042988" y="1314450"/>
            <a:ext cx="871538" cy="233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54"/>
              </a:lnSpc>
              <a:buNone/>
            </a:pPr>
            <a:r>
              <a:rPr lang="en-US" sz="1800" spc="-90" kern="0" dirty="0">
                <a:solidFill>
                  <a:srgbClr val="4D4D4D">
                    <a:alpha val="99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Cores 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424238" y="1314450"/>
            <a:ext cx="809625" cy="233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54"/>
              </a:lnSpc>
              <a:buNone/>
            </a:pPr>
            <a:r>
              <a:rPr lang="en-US" sz="1800" spc="-90" kern="0" dirty="0">
                <a:solidFill>
                  <a:srgbClr val="4D4D4D">
                    <a:alpha val="99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Logo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700838" y="1314450"/>
            <a:ext cx="938212" cy="233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54"/>
              </a:lnSpc>
              <a:buNone/>
            </a:pPr>
            <a:r>
              <a:rPr lang="en-US" sz="1800" spc="-90" kern="0" dirty="0">
                <a:solidFill>
                  <a:srgbClr val="4D4D4D">
                    <a:alpha val="99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Fontes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039100" y="2043113"/>
            <a:ext cx="995362" cy="233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54"/>
              </a:lnSpc>
              <a:buNone/>
            </a:pPr>
            <a:r>
              <a:rPr lang="en-US" sz="1800" spc="-90" kern="0" dirty="0">
                <a:solidFill>
                  <a:srgbClr val="0E304B">
                    <a:alpha val="99000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</a:t>
            </a:r>
            <a:pPr algn="l" indent="0" marL="0">
              <a:lnSpc>
                <a:spcPts val="1854"/>
              </a:lnSpc>
              <a:buNone/>
            </a:pPr>
            <a:r>
              <a:rPr lang="en-US" sz="1800" spc="-90" kern="0" dirty="0">
                <a:solidFill>
                  <a:srgbClr val="0E304B">
                    <a:alpha val="99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swald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039100" y="2262188"/>
            <a:ext cx="995362" cy="233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54"/>
              </a:lnSpc>
              <a:buNone/>
            </a:pPr>
            <a:r>
              <a:rPr lang="en-US" sz="1800" spc="-90" kern="0" dirty="0">
                <a:solidFill>
                  <a:srgbClr val="468945">
                    <a:alpha val="99000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</a:t>
            </a:r>
            <a:pPr algn="l" indent="0" marL="0">
              <a:lnSpc>
                <a:spcPts val="1854"/>
              </a:lnSpc>
              <a:buNone/>
            </a:pPr>
            <a:r>
              <a:rPr lang="en-US" sz="1800" spc="-90" kern="0" dirty="0">
                <a:solidFill>
                  <a:srgbClr val="468945">
                    <a:alpha val="99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swald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8039100" y="3224213"/>
            <a:ext cx="966787" cy="176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90"/>
              </a:lnSpc>
              <a:buNone/>
            </a:pPr>
            <a:r>
              <a:rPr lang="en-US" sz="1350" spc="-67" kern="0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Roboto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90600"/>
            <a:ext cx="1909762" cy="39909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90600"/>
            <a:ext cx="1640049" cy="39909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088" y="776288"/>
            <a:ext cx="3014663" cy="420528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19150" y="390525"/>
            <a:ext cx="3181350" cy="47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8"/>
              </a:lnSpc>
              <a:buNone/>
            </a:pPr>
            <a:r>
              <a:rPr lang="en-US" sz="3600" spc="-180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Layout do site 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8667750" y="4710113"/>
            <a:ext cx="51911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4907" y="2066925"/>
            <a:ext cx="505649" cy="5056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9150" y="390525"/>
            <a:ext cx="3181350" cy="47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8"/>
              </a:lnSpc>
              <a:buNone/>
            </a:pPr>
            <a:r>
              <a:rPr lang="en-US" sz="3600" spc="-180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Layout do site 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8667750" y="4710113"/>
            <a:ext cx="51911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2519363" y="2709863"/>
            <a:ext cx="4233863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spc="-30" kern="0" dirty="0">
                <a:solidFill>
                  <a:srgbClr val="000000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https://ssconsultoriadealimentos.github.io/PI1/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77544" y="-3509905"/>
            <a:ext cx="8774068" cy="11162436"/>
          </a:xfrm>
          <a:prstGeom prst="rect">
            <a:avLst/>
          </a:pr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77547" y="-3457982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67750" y="4710113"/>
            <a:ext cx="528638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675"/>
              </a:lnSpc>
              <a:buNone/>
            </a:pPr>
            <a:r>
              <a:rPr lang="en-US" sz="450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5348288" cy="3829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5250" spc="-262" kern="0" dirty="0">
                <a:solidFill>
                  <a:srgbClr val="FFFFFF">
                    <a:alpha val="99000"/>
                  </a:srgbClr>
                </a:solidFill>
                <a:latin typeface="ABeeZee" pitchFamily="34" charset="0"/>
                <a:ea typeface="ABeeZee" pitchFamily="34" charset="-122"/>
                <a:cs typeface="ABeeZee" pitchFamily="34" charset="-120"/>
              </a:rPr>
              <a:t>Agradecemos pela atenção e desejamos sucesso nos projetos de todos.</a:t>
            </a:r>
            <a:endParaRPr lang="en-US" sz="5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2025-07-24T16:20:28Z</dcterms:created>
  <dcterms:modified xsi:type="dcterms:W3CDTF">2025-07-24T16:20:28Z</dcterms:modified>
</cp:coreProperties>
</file>